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8"/>
          </a:solidFill>
          <a:ln/>
        </p:spPr>
      </p:sp>
      <p:sp>
        <p:nvSpPr>
          <p:cNvPr id="3" name="Shape 1"/>
          <p:cNvSpPr/>
          <p:nvPr/>
        </p:nvSpPr>
        <p:spPr>
          <a:xfrm>
            <a:off x="446" y="0"/>
            <a:ext cx="5576888" cy="5143500"/>
          </a:xfrm>
          <a:prstGeom prst="rect">
            <a:avLst/>
          </a:prstGeom>
          <a:solidFill>
            <a:srgbClr val="F6F9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8266" y="-484"/>
            <a:ext cx="4205288" cy="468153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162" y="-484"/>
            <a:ext cx="1647825" cy="468153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-1463464" y="1748321"/>
            <a:ext cx="4938712" cy="4938712"/>
          </a:xfrm>
          <a:prstGeom prst="ellipse">
            <a:avLst/>
          </a:prstGeom>
          <a:ln w="19050">
            <a:solidFill>
              <a:srgbClr val="287D7D">
                <a:alpha val="20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0" y="4681091"/>
            <a:ext cx="9144000" cy="461962"/>
          </a:xfrm>
          <a:prstGeom prst="rect">
            <a:avLst/>
          </a:prstGeom>
          <a:solidFill>
            <a:srgbClr val="2A7B7B"/>
          </a:solidFill>
          <a:ln/>
        </p:spPr>
      </p:sp>
      <p:sp>
        <p:nvSpPr>
          <p:cNvPr id="8" name="Text 4"/>
          <p:cNvSpPr/>
          <p:nvPr/>
        </p:nvSpPr>
        <p:spPr>
          <a:xfrm>
            <a:off x="640035" y="4828282"/>
            <a:ext cx="231376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CONSULTANT EDITION</a:t>
            </a:r>
            <a:endParaRPr lang="en-US" sz="1080" dirty="0"/>
          </a:p>
        </p:txBody>
      </p:sp>
      <p:sp>
        <p:nvSpPr>
          <p:cNvPr id="9" name="Text 5"/>
          <p:cNvSpPr/>
          <p:nvPr/>
        </p:nvSpPr>
        <p:spPr>
          <a:xfrm>
            <a:off x="8149605" y="4828282"/>
            <a:ext cx="51781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D4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080" dirty="0"/>
          </a:p>
        </p:txBody>
      </p:sp>
      <p:sp>
        <p:nvSpPr>
          <p:cNvPr id="10" name="Text 6"/>
          <p:cNvSpPr/>
          <p:nvPr/>
        </p:nvSpPr>
        <p:spPr>
          <a:xfrm>
            <a:off x="640035" y="1138163"/>
            <a:ext cx="2734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1120" b="1" spc="112" kern="0" dirty="0">
                <a:solidFill>
                  <a:srgbClr val="2A7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 COMPLIANCE SUITE</a:t>
            </a:r>
            <a:endParaRPr lang="en-US" sz="1120" dirty="0"/>
          </a:p>
        </p:txBody>
      </p:sp>
      <p:sp>
        <p:nvSpPr>
          <p:cNvPr id="11" name="Text 7"/>
          <p:cNvSpPr/>
          <p:nvPr/>
        </p:nvSpPr>
        <p:spPr>
          <a:xfrm>
            <a:off x="640035" y="1419299"/>
            <a:ext cx="5631500" cy="67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90" b="1" spc="-220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 Compliance</a:t>
            </a:r>
            <a:endParaRPr lang="en-US" sz="4390" dirty="0"/>
          </a:p>
        </p:txBody>
      </p:sp>
      <p:sp>
        <p:nvSpPr>
          <p:cNvPr id="12" name="Text 8"/>
          <p:cNvSpPr/>
          <p:nvPr/>
        </p:nvSpPr>
        <p:spPr>
          <a:xfrm>
            <a:off x="640035" y="1965945"/>
            <a:ext cx="1688931" cy="67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90" b="1" spc="-220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Suite</a:t>
            </a:r>
            <a:endParaRPr lang="en-US" sz="4390" dirty="0"/>
          </a:p>
        </p:txBody>
      </p:sp>
      <p:sp>
        <p:nvSpPr>
          <p:cNvPr id="13" name="Shape 9"/>
          <p:cNvSpPr/>
          <p:nvPr/>
        </p:nvSpPr>
        <p:spPr>
          <a:xfrm>
            <a:off x="639552" y="2866616"/>
            <a:ext cx="366712" cy="19050"/>
          </a:xfrm>
          <a:prstGeom prst="rect">
            <a:avLst/>
          </a:prstGeom>
          <a:solidFill>
            <a:srgbClr val="0B3D8E"/>
          </a:solidFill>
          <a:ln/>
        </p:spPr>
      </p:sp>
      <p:sp>
        <p:nvSpPr>
          <p:cNvPr id="14" name="Text 10"/>
          <p:cNvSpPr/>
          <p:nvPr/>
        </p:nvSpPr>
        <p:spPr>
          <a:xfrm>
            <a:off x="1170310" y="2799234"/>
            <a:ext cx="3813401" cy="476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92"/>
              </a:lnSpc>
              <a:buNone/>
            </a:pPr>
            <a:r>
              <a:rPr lang="en-US" sz="1480" dirty="0">
                <a:solidFill>
                  <a:srgbClr val="4A4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 &amp; CfC Compliance + Survey</a:t>
            </a:r>
            <a:endParaRPr lang="en-US" sz="1480" dirty="0"/>
          </a:p>
          <a:p>
            <a:pPr algn="l" indent="0" marL="0">
              <a:lnSpc>
                <a:spcPts val="1992"/>
              </a:lnSpc>
              <a:buNone/>
            </a:pPr>
            <a:r>
              <a:rPr lang="en-US" sz="1480" dirty="0">
                <a:solidFill>
                  <a:srgbClr val="4A4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Readiness</a:t>
            </a:r>
            <a:endParaRPr lang="en-US" sz="1480" dirty="0"/>
          </a:p>
        </p:txBody>
      </p:sp>
      <p:sp>
        <p:nvSpPr>
          <p:cNvPr id="15" name="Text 11"/>
          <p:cNvSpPr/>
          <p:nvPr/>
        </p:nvSpPr>
        <p:spPr>
          <a:xfrm>
            <a:off x="1170310" y="3362548"/>
            <a:ext cx="491302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27"/>
              </a:spcBef>
              <a:buNone/>
            </a:pPr>
            <a:r>
              <a:rPr lang="en-US" sz="1190" dirty="0">
                <a:solidFill>
                  <a:srgbClr val="4A4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Consultant-led staff training and web app navigation</a:t>
            </a:r>
            <a:endParaRPr lang="en-US" sz="11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8"/>
          </a:solidFill>
          <a:ln/>
        </p:spPr>
      </p:sp>
      <p:sp>
        <p:nvSpPr>
          <p:cNvPr id="3" name="Shape 1"/>
          <p:cNvSpPr/>
          <p:nvPr/>
        </p:nvSpPr>
        <p:spPr>
          <a:xfrm>
            <a:off x="4936778" y="-1338262"/>
            <a:ext cx="5305425" cy="5305425"/>
          </a:xfrm>
          <a:prstGeom prst="ellipse">
            <a:avLst/>
          </a:prstGeom>
          <a:ln w="14288">
            <a:solidFill>
              <a:srgbClr val="287979">
                <a:alpha val="14902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81091"/>
            <a:ext cx="9144000" cy="461962"/>
          </a:xfrm>
          <a:prstGeom prst="rect">
            <a:avLst/>
          </a:prstGeom>
          <a:solidFill>
            <a:srgbClr val="2A7B7B"/>
          </a:solidFill>
          <a:ln/>
        </p:spPr>
      </p:sp>
      <p:sp>
        <p:nvSpPr>
          <p:cNvPr id="5" name="Text 3"/>
          <p:cNvSpPr/>
          <p:nvPr/>
        </p:nvSpPr>
        <p:spPr>
          <a:xfrm>
            <a:off x="640035" y="4802609"/>
            <a:ext cx="257718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 COMPLIANCE SUITE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325073" y="4802609"/>
            <a:ext cx="28970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DFE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40035" y="379065"/>
            <a:ext cx="183481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0"/>
              </a:spcAft>
              <a:buNone/>
            </a:pPr>
            <a:r>
              <a:rPr lang="en-US" sz="1080" b="1" spc="130" kern="0" dirty="0">
                <a:solidFill>
                  <a:srgbClr val="2A7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TRAINING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40035" y="747564"/>
            <a:ext cx="76886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990" b="1" spc="-105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suite helps your team do</a:t>
            </a:r>
            <a:endParaRPr lang="en-US" sz="2990" dirty="0"/>
          </a:p>
        </p:txBody>
      </p:sp>
      <p:sp>
        <p:nvSpPr>
          <p:cNvPr id="9" name="Shape 7"/>
          <p:cNvSpPr/>
          <p:nvPr/>
        </p:nvSpPr>
        <p:spPr>
          <a:xfrm>
            <a:off x="640519" y="1397719"/>
            <a:ext cx="3748087" cy="1866900"/>
          </a:xfrm>
          <a:prstGeom prst="roundRect">
            <a:avLst>
              <a:gd name="adj" fmla="val 4898"/>
            </a:avLst>
          </a:pr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154305" dist="61722" dir="5400000">
              <a:srgbClr val="0F293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0544" y="1397422"/>
            <a:ext cx="3348037" cy="623888"/>
          </a:xfrm>
          <a:prstGeom prst="rect">
            <a:avLst/>
          </a:prstGeom>
          <a:ln/>
        </p:spPr>
      </p:sp>
      <p:sp>
        <p:nvSpPr>
          <p:cNvPr id="11" name="Shape 9"/>
          <p:cNvSpPr/>
          <p:nvPr/>
        </p:nvSpPr>
        <p:spPr>
          <a:xfrm>
            <a:off x="840284" y="1514103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12" name="Text 10"/>
          <p:cNvSpPr/>
          <p:nvPr/>
        </p:nvSpPr>
        <p:spPr>
          <a:xfrm>
            <a:off x="947217" y="1609427"/>
            <a:ext cx="28051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1362298" y="1473994"/>
            <a:ext cx="306445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Navigate verified provider-specific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2093863" y="1711747"/>
            <a:ext cx="214485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 requirements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840544" y="2021607"/>
            <a:ext cx="3348037" cy="623888"/>
          </a:xfrm>
          <a:prstGeom prst="rect">
            <a:avLst/>
          </a:prstGeom>
          <a:ln/>
        </p:spPr>
      </p:sp>
      <p:sp>
        <p:nvSpPr>
          <p:cNvPr id="16" name="Shape 14"/>
          <p:cNvSpPr/>
          <p:nvPr/>
        </p:nvSpPr>
        <p:spPr>
          <a:xfrm>
            <a:off x="840284" y="2138288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17" name="Text 15"/>
          <p:cNvSpPr/>
          <p:nvPr/>
        </p:nvSpPr>
        <p:spPr>
          <a:xfrm>
            <a:off x="931813" y="2233612"/>
            <a:ext cx="3206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1362298" y="2098179"/>
            <a:ext cx="2888970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policy templates for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review</a:t>
            </a:r>
            <a:endParaRPr lang="en-US" sz="1440" dirty="0"/>
          </a:p>
        </p:txBody>
      </p:sp>
      <p:sp>
        <p:nvSpPr>
          <p:cNvPr id="19" name="Shape 17"/>
          <p:cNvSpPr/>
          <p:nvPr/>
        </p:nvSpPr>
        <p:spPr>
          <a:xfrm>
            <a:off x="840284" y="2762473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20" name="Text 18"/>
          <p:cNvSpPr/>
          <p:nvPr/>
        </p:nvSpPr>
        <p:spPr>
          <a:xfrm>
            <a:off x="930622" y="2857798"/>
            <a:ext cx="32376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62298" y="2722364"/>
            <a:ext cx="3312683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units and contracted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for inspection</a:t>
            </a:r>
            <a:endParaRPr lang="en-US" sz="1440" dirty="0"/>
          </a:p>
        </p:txBody>
      </p:sp>
      <p:sp>
        <p:nvSpPr>
          <p:cNvPr id="22" name="Shape 20"/>
          <p:cNvSpPr/>
          <p:nvPr/>
        </p:nvSpPr>
        <p:spPr>
          <a:xfrm>
            <a:off x="4755356" y="1397719"/>
            <a:ext cx="3748087" cy="1866900"/>
          </a:xfrm>
          <a:prstGeom prst="roundRect">
            <a:avLst>
              <a:gd name="adj" fmla="val 4898"/>
            </a:avLst>
          </a:pr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154305" dist="61722" dir="5400000">
              <a:srgbClr val="0F293D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55381" y="1397422"/>
            <a:ext cx="3348037" cy="623888"/>
          </a:xfrm>
          <a:prstGeom prst="rect">
            <a:avLst/>
          </a:prstGeom>
          <a:ln/>
        </p:spPr>
      </p:sp>
      <p:sp>
        <p:nvSpPr>
          <p:cNvPr id="24" name="Shape 22"/>
          <p:cNvSpPr/>
          <p:nvPr/>
        </p:nvSpPr>
        <p:spPr>
          <a:xfrm>
            <a:off x="4955084" y="1514103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25" name="Text 23"/>
          <p:cNvSpPr/>
          <p:nvPr/>
        </p:nvSpPr>
        <p:spPr>
          <a:xfrm>
            <a:off x="5042967" y="1609427"/>
            <a:ext cx="33004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5477098" y="1473994"/>
            <a:ext cx="3590032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policy language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against regulatory expectations</a:t>
            </a:r>
            <a:endParaRPr lang="en-US" sz="1440" dirty="0"/>
          </a:p>
        </p:txBody>
      </p:sp>
      <p:sp>
        <p:nvSpPr>
          <p:cNvPr id="27" name="Shape 25"/>
          <p:cNvSpPr/>
          <p:nvPr/>
        </p:nvSpPr>
        <p:spPr>
          <a:xfrm>
            <a:off x="4955084" y="2138288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28" name="Text 26"/>
          <p:cNvSpPr/>
          <p:nvPr/>
        </p:nvSpPr>
        <p:spPr>
          <a:xfrm>
            <a:off x="5047208" y="2233612"/>
            <a:ext cx="3190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5477098" y="2098179"/>
            <a:ext cx="2981355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identified gaps into a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remediation action plan</a:t>
            </a:r>
            <a:endParaRPr lang="en-US" sz="144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544" y="1397422"/>
            <a:ext cx="3348037" cy="623888"/>
          </a:xfrm>
          <a:prstGeom prst="rect">
            <a:avLst/>
          </a:prstGeom>
        </p:spPr>
      </p:pic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544" y="2021607"/>
            <a:ext cx="3348037" cy="623888"/>
          </a:xfrm>
          <a:prstGeom prst="rect">
            <a:avLst/>
          </a:prstGeom>
        </p:spPr>
      </p:pic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5381" y="1397422"/>
            <a:ext cx="3348037" cy="6238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8"/>
          </a:solidFill>
          <a:ln/>
        </p:spPr>
      </p:sp>
      <p:sp>
        <p:nvSpPr>
          <p:cNvPr id="3" name="Shape 1"/>
          <p:cNvSpPr/>
          <p:nvPr/>
        </p:nvSpPr>
        <p:spPr>
          <a:xfrm>
            <a:off x="4936778" y="-1338262"/>
            <a:ext cx="5305425" cy="5305425"/>
          </a:xfrm>
          <a:prstGeom prst="ellipse">
            <a:avLst/>
          </a:prstGeom>
          <a:ln w="14288">
            <a:solidFill>
              <a:srgbClr val="287979">
                <a:alpha val="14902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81091"/>
            <a:ext cx="9144000" cy="461962"/>
          </a:xfrm>
          <a:prstGeom prst="rect">
            <a:avLst/>
          </a:prstGeom>
          <a:solidFill>
            <a:srgbClr val="2A7B7B"/>
          </a:solidFill>
          <a:ln/>
        </p:spPr>
      </p:sp>
      <p:sp>
        <p:nvSpPr>
          <p:cNvPr id="5" name="Text 3"/>
          <p:cNvSpPr/>
          <p:nvPr/>
        </p:nvSpPr>
        <p:spPr>
          <a:xfrm>
            <a:off x="640035" y="4802609"/>
            <a:ext cx="257718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 COMPLIANCE SUITE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322915" y="4802609"/>
            <a:ext cx="29251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DFE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40035" y="379065"/>
            <a:ext cx="183481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0"/>
              </a:spcAft>
              <a:buNone/>
            </a:pPr>
            <a:r>
              <a:rPr lang="en-US" sz="1080" b="1" spc="130" kern="0" dirty="0">
                <a:solidFill>
                  <a:srgbClr val="2A7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TRAINING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40035" y="747564"/>
            <a:ext cx="790049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990" b="1" spc="-105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the correct provider type</a:t>
            </a:r>
            <a:endParaRPr lang="en-US" sz="2990" dirty="0"/>
          </a:p>
        </p:txBody>
      </p:sp>
      <p:sp>
        <p:nvSpPr>
          <p:cNvPr id="9" name="Shape 7"/>
          <p:cNvSpPr/>
          <p:nvPr/>
        </p:nvSpPr>
        <p:spPr>
          <a:xfrm>
            <a:off x="640519" y="1397012"/>
            <a:ext cx="3748087" cy="1957388"/>
          </a:xfrm>
          <a:prstGeom prst="roundRect">
            <a:avLst>
              <a:gd name="adj" fmla="val 4672"/>
            </a:avLst>
          </a:pr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154305" dist="61722" dir="5400000">
              <a:srgbClr val="0F293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0544" y="1397422"/>
            <a:ext cx="3348037" cy="623888"/>
          </a:xfrm>
          <a:prstGeom prst="rect">
            <a:avLst/>
          </a:prstGeom>
          <a:ln/>
        </p:spPr>
      </p:sp>
      <p:sp>
        <p:nvSpPr>
          <p:cNvPr id="11" name="Shape 9"/>
          <p:cNvSpPr/>
          <p:nvPr/>
        </p:nvSpPr>
        <p:spPr>
          <a:xfrm>
            <a:off x="840284" y="1514103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12" name="Text 10"/>
          <p:cNvSpPr/>
          <p:nvPr/>
        </p:nvSpPr>
        <p:spPr>
          <a:xfrm>
            <a:off x="947217" y="1609427"/>
            <a:ext cx="28051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1362298" y="1473994"/>
            <a:ext cx="3447150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in and select the facility’s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 provider category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840544" y="2021607"/>
            <a:ext cx="3348037" cy="623888"/>
          </a:xfrm>
          <a:prstGeom prst="rect">
            <a:avLst/>
          </a:prstGeom>
          <a:ln/>
        </p:spPr>
      </p:sp>
      <p:sp>
        <p:nvSpPr>
          <p:cNvPr id="15" name="Shape 13"/>
          <p:cNvSpPr/>
          <p:nvPr/>
        </p:nvSpPr>
        <p:spPr>
          <a:xfrm>
            <a:off x="840284" y="2138288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16" name="Text 14"/>
          <p:cNvSpPr/>
          <p:nvPr/>
        </p:nvSpPr>
        <p:spPr>
          <a:xfrm>
            <a:off x="931813" y="2233612"/>
            <a:ext cx="3206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362298" y="2098179"/>
            <a:ext cx="3558786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the provider name and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framework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840284" y="2762473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19" name="Text 17"/>
          <p:cNvSpPr/>
          <p:nvPr/>
        </p:nvSpPr>
        <p:spPr>
          <a:xfrm>
            <a:off x="930622" y="2857798"/>
            <a:ext cx="32376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1362298" y="2722364"/>
            <a:ext cx="3503258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verified citation library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content is available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4755356" y="1397012"/>
            <a:ext cx="3748087" cy="1957388"/>
          </a:xfrm>
          <a:prstGeom prst="roundRect">
            <a:avLst>
              <a:gd name="adj" fmla="val 4672"/>
            </a:avLst>
          </a:pr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154305" dist="61722" dir="5400000">
              <a:srgbClr val="0F293D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55381" y="1397236"/>
            <a:ext cx="3348037" cy="862012"/>
          </a:xfrm>
          <a:prstGeom prst="rect">
            <a:avLst/>
          </a:prstGeom>
          <a:ln/>
        </p:spPr>
      </p:sp>
      <p:sp>
        <p:nvSpPr>
          <p:cNvPr id="23" name="Shape 21"/>
          <p:cNvSpPr/>
          <p:nvPr/>
        </p:nvSpPr>
        <p:spPr>
          <a:xfrm>
            <a:off x="4955084" y="1632942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24" name="Text 22"/>
          <p:cNvSpPr/>
          <p:nvPr/>
        </p:nvSpPr>
        <p:spPr>
          <a:xfrm>
            <a:off x="5042967" y="1728267"/>
            <a:ext cx="33004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5477098" y="1473994"/>
            <a:ext cx="3667519" cy="69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“Content Pending Verification”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means tools remain intentionally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unavailable</a:t>
            </a:r>
            <a:endParaRPr lang="en-US" sz="1440" dirty="0"/>
          </a:p>
        </p:txBody>
      </p:sp>
      <p:sp>
        <p:nvSpPr>
          <p:cNvPr id="26" name="Shape 24"/>
          <p:cNvSpPr/>
          <p:nvPr/>
        </p:nvSpPr>
        <p:spPr>
          <a:xfrm>
            <a:off x="4955084" y="2613794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27" name="Text 25"/>
          <p:cNvSpPr/>
          <p:nvPr/>
        </p:nvSpPr>
        <p:spPr>
          <a:xfrm>
            <a:off x="5047208" y="2709118"/>
            <a:ext cx="3190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5477098" y="2335932"/>
            <a:ext cx="3651267" cy="932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Outpatient Occupational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Therapy and IHS Facility require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selection by the applicable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certified provider type</a:t>
            </a:r>
            <a:endParaRPr lang="en-US" sz="144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544" y="1397422"/>
            <a:ext cx="3348037" cy="623888"/>
          </a:xfrm>
          <a:prstGeom prst="rect">
            <a:avLst/>
          </a:prstGeom>
        </p:spPr>
      </p:pic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544" y="2021607"/>
            <a:ext cx="3348037" cy="623888"/>
          </a:xfrm>
          <a:prstGeom prst="rect">
            <a:avLst/>
          </a:prstGeom>
        </p:spPr>
      </p:pic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5381" y="1397236"/>
            <a:ext cx="3348037" cy="8620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8"/>
          </a:solidFill>
          <a:ln/>
        </p:spPr>
      </p:sp>
      <p:sp>
        <p:nvSpPr>
          <p:cNvPr id="3" name="Shape 1"/>
          <p:cNvSpPr/>
          <p:nvPr/>
        </p:nvSpPr>
        <p:spPr>
          <a:xfrm>
            <a:off x="4936778" y="-1338262"/>
            <a:ext cx="5305425" cy="5305425"/>
          </a:xfrm>
          <a:prstGeom prst="ellipse">
            <a:avLst/>
          </a:prstGeom>
          <a:ln w="14288">
            <a:solidFill>
              <a:srgbClr val="287979">
                <a:alpha val="14902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81091"/>
            <a:ext cx="9144000" cy="461962"/>
          </a:xfrm>
          <a:prstGeom prst="rect">
            <a:avLst/>
          </a:prstGeom>
          <a:solidFill>
            <a:srgbClr val="2A7B7B"/>
          </a:solidFill>
          <a:ln/>
        </p:spPr>
      </p:sp>
      <p:sp>
        <p:nvSpPr>
          <p:cNvPr id="5" name="Text 3"/>
          <p:cNvSpPr/>
          <p:nvPr/>
        </p:nvSpPr>
        <p:spPr>
          <a:xfrm>
            <a:off x="640035" y="4802609"/>
            <a:ext cx="257718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 COMPLIANCE SUITE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318674" y="4802609"/>
            <a:ext cx="29802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DFE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40035" y="379065"/>
            <a:ext cx="183481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0"/>
              </a:spcAft>
              <a:buNone/>
            </a:pPr>
            <a:r>
              <a:rPr lang="en-US" sz="1080" b="1" spc="130" kern="0" dirty="0">
                <a:solidFill>
                  <a:srgbClr val="2A7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TRAINING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40035" y="747564"/>
            <a:ext cx="952840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990" b="1" spc="-105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Navigate the four compliance workspaces</a:t>
            </a:r>
            <a:endParaRPr lang="en-US" sz="2990" dirty="0"/>
          </a:p>
        </p:txBody>
      </p:sp>
      <p:sp>
        <p:nvSpPr>
          <p:cNvPr id="9" name="Shape 7"/>
          <p:cNvSpPr/>
          <p:nvPr/>
        </p:nvSpPr>
        <p:spPr>
          <a:xfrm>
            <a:off x="640519" y="1397719"/>
            <a:ext cx="3748087" cy="1866900"/>
          </a:xfrm>
          <a:prstGeom prst="roundRect">
            <a:avLst>
              <a:gd name="adj" fmla="val 4898"/>
            </a:avLst>
          </a:pr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154305" dist="61722" dir="5400000">
              <a:srgbClr val="0F293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0544" y="1397422"/>
            <a:ext cx="3348037" cy="623888"/>
          </a:xfrm>
          <a:prstGeom prst="rect">
            <a:avLst/>
          </a:prstGeom>
          <a:ln/>
        </p:spPr>
      </p:sp>
      <p:sp>
        <p:nvSpPr>
          <p:cNvPr id="11" name="Shape 9"/>
          <p:cNvSpPr/>
          <p:nvPr/>
        </p:nvSpPr>
        <p:spPr>
          <a:xfrm>
            <a:off x="840284" y="1514103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12" name="Text 10"/>
          <p:cNvSpPr/>
          <p:nvPr/>
        </p:nvSpPr>
        <p:spPr>
          <a:xfrm>
            <a:off x="947217" y="1609427"/>
            <a:ext cx="28051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1362298" y="1473994"/>
            <a:ext cx="3585969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Guidelines —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topic-based guidance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840544" y="2021607"/>
            <a:ext cx="3348037" cy="623888"/>
          </a:xfrm>
          <a:prstGeom prst="rect">
            <a:avLst/>
          </a:prstGeom>
          <a:ln/>
        </p:spPr>
      </p:sp>
      <p:sp>
        <p:nvSpPr>
          <p:cNvPr id="15" name="Shape 13"/>
          <p:cNvSpPr/>
          <p:nvPr/>
        </p:nvSpPr>
        <p:spPr>
          <a:xfrm>
            <a:off x="840284" y="2138288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16" name="Text 14"/>
          <p:cNvSpPr/>
          <p:nvPr/>
        </p:nvSpPr>
        <p:spPr>
          <a:xfrm>
            <a:off x="931813" y="2233612"/>
            <a:ext cx="3206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362298" y="2098179"/>
            <a:ext cx="3052361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Templates — draft a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for internal review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840284" y="2762473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19" name="Text 17"/>
          <p:cNvSpPr/>
          <p:nvPr/>
        </p:nvSpPr>
        <p:spPr>
          <a:xfrm>
            <a:off x="930622" y="2857798"/>
            <a:ext cx="32376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1362298" y="2722364"/>
            <a:ext cx="3567202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Inspection Readiness — build a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12-item survey checklist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4755356" y="1397719"/>
            <a:ext cx="3748087" cy="1866900"/>
          </a:xfrm>
          <a:prstGeom prst="roundRect">
            <a:avLst>
              <a:gd name="adj" fmla="val 4898"/>
            </a:avLst>
          </a:pr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154305" dist="61722" dir="5400000">
              <a:srgbClr val="0F293D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55381" y="1397236"/>
            <a:ext cx="3348037" cy="862012"/>
          </a:xfrm>
          <a:prstGeom prst="rect">
            <a:avLst/>
          </a:prstGeom>
          <a:ln/>
        </p:spPr>
      </p:sp>
      <p:sp>
        <p:nvSpPr>
          <p:cNvPr id="23" name="Shape 21"/>
          <p:cNvSpPr/>
          <p:nvPr/>
        </p:nvSpPr>
        <p:spPr>
          <a:xfrm>
            <a:off x="4955084" y="1632942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24" name="Text 22"/>
          <p:cNvSpPr/>
          <p:nvPr/>
        </p:nvSpPr>
        <p:spPr>
          <a:xfrm>
            <a:off x="5042967" y="1728267"/>
            <a:ext cx="33004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5477098" y="1473994"/>
            <a:ext cx="3398393" cy="69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Gap Scanner — assess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text and identify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weaknesses</a:t>
            </a:r>
            <a:endParaRPr lang="en-US" sz="1440" dirty="0"/>
          </a:p>
        </p:txBody>
      </p:sp>
      <p:sp>
        <p:nvSpPr>
          <p:cNvPr id="26" name="Shape 24"/>
          <p:cNvSpPr/>
          <p:nvPr/>
        </p:nvSpPr>
        <p:spPr>
          <a:xfrm>
            <a:off x="4955084" y="2494880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27" name="Text 25"/>
          <p:cNvSpPr/>
          <p:nvPr/>
        </p:nvSpPr>
        <p:spPr>
          <a:xfrm>
            <a:off x="5047208" y="2590205"/>
            <a:ext cx="3190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5477098" y="2335932"/>
            <a:ext cx="3545145" cy="69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Billing, feedback, sign-out, and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access appear in the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header as permitted</a:t>
            </a:r>
            <a:endParaRPr lang="en-US" sz="144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544" y="1397422"/>
            <a:ext cx="3348037" cy="623888"/>
          </a:xfrm>
          <a:prstGeom prst="rect">
            <a:avLst/>
          </a:prstGeom>
        </p:spPr>
      </p:pic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544" y="2021607"/>
            <a:ext cx="3348037" cy="623888"/>
          </a:xfrm>
          <a:prstGeom prst="rect">
            <a:avLst/>
          </a:prstGeom>
        </p:spPr>
      </p:pic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5381" y="1397236"/>
            <a:ext cx="3348037" cy="8620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8"/>
          </a:solidFill>
          <a:ln/>
        </p:spPr>
      </p:sp>
      <p:sp>
        <p:nvSpPr>
          <p:cNvPr id="3" name="Shape 1"/>
          <p:cNvSpPr/>
          <p:nvPr/>
        </p:nvSpPr>
        <p:spPr>
          <a:xfrm>
            <a:off x="4936778" y="-1338262"/>
            <a:ext cx="5305425" cy="5305425"/>
          </a:xfrm>
          <a:prstGeom prst="ellipse">
            <a:avLst/>
          </a:prstGeom>
          <a:ln w="14288">
            <a:solidFill>
              <a:srgbClr val="287979">
                <a:alpha val="14902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81091"/>
            <a:ext cx="9144000" cy="461962"/>
          </a:xfrm>
          <a:prstGeom prst="rect">
            <a:avLst/>
          </a:prstGeom>
          <a:solidFill>
            <a:srgbClr val="2A7B7B"/>
          </a:solidFill>
          <a:ln/>
        </p:spPr>
      </p:sp>
      <p:sp>
        <p:nvSpPr>
          <p:cNvPr id="5" name="Text 3"/>
          <p:cNvSpPr/>
          <p:nvPr/>
        </p:nvSpPr>
        <p:spPr>
          <a:xfrm>
            <a:off x="640035" y="4802609"/>
            <a:ext cx="257718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 COMPLIANCE SUITE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326115" y="4802609"/>
            <a:ext cx="28835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DFE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40035" y="379065"/>
            <a:ext cx="183481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0"/>
              </a:spcAft>
              <a:buNone/>
            </a:pPr>
            <a:r>
              <a:rPr lang="en-US" sz="1080" b="1" spc="130" kern="0" dirty="0">
                <a:solidFill>
                  <a:srgbClr val="2A7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TRAINING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40035" y="747564"/>
            <a:ext cx="863570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990" b="1" spc="-105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Compliance Guidelines and Policy</a:t>
            </a:r>
            <a:endParaRPr lang="en-US" sz="2990" dirty="0"/>
          </a:p>
        </p:txBody>
      </p:sp>
      <p:sp>
        <p:nvSpPr>
          <p:cNvPr id="9" name="Text 7"/>
          <p:cNvSpPr/>
          <p:nvPr/>
        </p:nvSpPr>
        <p:spPr>
          <a:xfrm>
            <a:off x="640035" y="1157436"/>
            <a:ext cx="241340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990" b="1" spc="-105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Templates</a:t>
            </a:r>
            <a:endParaRPr lang="en-US" sz="2990" dirty="0"/>
          </a:p>
        </p:txBody>
      </p:sp>
      <p:sp>
        <p:nvSpPr>
          <p:cNvPr id="10" name="Shape 8"/>
          <p:cNvSpPr/>
          <p:nvPr/>
        </p:nvSpPr>
        <p:spPr>
          <a:xfrm>
            <a:off x="640519" y="1807406"/>
            <a:ext cx="3748087" cy="2105025"/>
          </a:xfrm>
          <a:prstGeom prst="roundRect">
            <a:avLst>
              <a:gd name="adj" fmla="val 4344"/>
            </a:avLst>
          </a:pr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154305" dist="61722" dir="5400000">
              <a:srgbClr val="0F293D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0544" y="1807294"/>
            <a:ext cx="3348037" cy="623888"/>
          </a:xfrm>
          <a:prstGeom prst="rect">
            <a:avLst/>
          </a:prstGeom>
          <a:ln/>
        </p:spPr>
      </p:sp>
      <p:sp>
        <p:nvSpPr>
          <p:cNvPr id="12" name="Shape 10"/>
          <p:cNvSpPr/>
          <p:nvPr/>
        </p:nvSpPr>
        <p:spPr>
          <a:xfrm>
            <a:off x="840284" y="1923976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13" name="Text 11"/>
          <p:cNvSpPr/>
          <p:nvPr/>
        </p:nvSpPr>
        <p:spPr>
          <a:xfrm>
            <a:off x="947217" y="2019300"/>
            <a:ext cx="28051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1362298" y="1883866"/>
            <a:ext cx="3530635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a provider topic or enter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custom topic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840544" y="2431479"/>
            <a:ext cx="3348037" cy="623888"/>
          </a:xfrm>
          <a:prstGeom prst="rect">
            <a:avLst/>
          </a:prstGeom>
          <a:ln/>
        </p:spPr>
      </p:sp>
      <p:sp>
        <p:nvSpPr>
          <p:cNvPr id="16" name="Shape 14"/>
          <p:cNvSpPr/>
          <p:nvPr/>
        </p:nvSpPr>
        <p:spPr>
          <a:xfrm>
            <a:off x="840284" y="2548161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17" name="Text 15"/>
          <p:cNvSpPr/>
          <p:nvPr/>
        </p:nvSpPr>
        <p:spPr>
          <a:xfrm>
            <a:off x="931813" y="2643485"/>
            <a:ext cx="3206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1362298" y="2508052"/>
            <a:ext cx="3427512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guidance or a policy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</a:t>
            </a:r>
            <a:endParaRPr lang="en-US" sz="1440" dirty="0"/>
          </a:p>
        </p:txBody>
      </p:sp>
      <p:sp>
        <p:nvSpPr>
          <p:cNvPr id="19" name="Shape 17"/>
          <p:cNvSpPr/>
          <p:nvPr/>
        </p:nvSpPr>
        <p:spPr>
          <a:xfrm>
            <a:off x="840284" y="3172346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20" name="Text 18"/>
          <p:cNvSpPr/>
          <p:nvPr/>
        </p:nvSpPr>
        <p:spPr>
          <a:xfrm>
            <a:off x="930622" y="3267670"/>
            <a:ext cx="32376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62298" y="3132237"/>
            <a:ext cx="3261122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the displayed source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badge</a:t>
            </a:r>
            <a:endParaRPr lang="en-US" sz="1440" dirty="0"/>
          </a:p>
        </p:txBody>
      </p:sp>
      <p:sp>
        <p:nvSpPr>
          <p:cNvPr id="22" name="Shape 20"/>
          <p:cNvSpPr/>
          <p:nvPr/>
        </p:nvSpPr>
        <p:spPr>
          <a:xfrm>
            <a:off x="4755356" y="1807406"/>
            <a:ext cx="3748087" cy="2105025"/>
          </a:xfrm>
          <a:prstGeom prst="roundRect">
            <a:avLst>
              <a:gd name="adj" fmla="val 4344"/>
            </a:avLst>
          </a:pr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154305" dist="61722" dir="5400000">
              <a:srgbClr val="0F293D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55381" y="1807294"/>
            <a:ext cx="3348037" cy="623888"/>
          </a:xfrm>
          <a:prstGeom prst="rect">
            <a:avLst/>
          </a:prstGeom>
          <a:ln/>
        </p:spPr>
      </p:sp>
      <p:sp>
        <p:nvSpPr>
          <p:cNvPr id="24" name="Shape 22"/>
          <p:cNvSpPr/>
          <p:nvPr/>
        </p:nvSpPr>
        <p:spPr>
          <a:xfrm>
            <a:off x="4955084" y="1923976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25" name="Text 23"/>
          <p:cNvSpPr/>
          <p:nvPr/>
        </p:nvSpPr>
        <p:spPr>
          <a:xfrm>
            <a:off x="5042967" y="2019300"/>
            <a:ext cx="33004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5477098" y="1883866"/>
            <a:ext cx="3711245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the CMS Citation Library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open official eCFR links</a:t>
            </a:r>
            <a:endParaRPr lang="en-US" sz="1440" dirty="0"/>
          </a:p>
        </p:txBody>
      </p:sp>
      <p:sp>
        <p:nvSpPr>
          <p:cNvPr id="27" name="Shape 25"/>
          <p:cNvSpPr/>
          <p:nvPr/>
        </p:nvSpPr>
        <p:spPr>
          <a:xfrm>
            <a:off x="4955381" y="2431479"/>
            <a:ext cx="3348037" cy="623888"/>
          </a:xfrm>
          <a:prstGeom prst="rect">
            <a:avLst/>
          </a:prstGeom>
          <a:ln/>
        </p:spPr>
      </p:sp>
      <p:sp>
        <p:nvSpPr>
          <p:cNvPr id="28" name="Shape 26"/>
          <p:cNvSpPr/>
          <p:nvPr/>
        </p:nvSpPr>
        <p:spPr>
          <a:xfrm>
            <a:off x="4955084" y="2548161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29" name="Text 27"/>
          <p:cNvSpPr/>
          <p:nvPr/>
        </p:nvSpPr>
        <p:spPr>
          <a:xfrm>
            <a:off x="5047208" y="2643485"/>
            <a:ext cx="3190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5477098" y="2508052"/>
            <a:ext cx="3566234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 results or export them for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440" dirty="0"/>
          </a:p>
        </p:txBody>
      </p:sp>
      <p:sp>
        <p:nvSpPr>
          <p:cNvPr id="31" name="Shape 29"/>
          <p:cNvSpPr/>
          <p:nvPr/>
        </p:nvSpPr>
        <p:spPr>
          <a:xfrm>
            <a:off x="4955084" y="3291185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32" name="Text 30"/>
          <p:cNvSpPr/>
          <p:nvPr/>
        </p:nvSpPr>
        <p:spPr>
          <a:xfrm>
            <a:off x="5045125" y="3386510"/>
            <a:ext cx="32453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5477098" y="3132237"/>
            <a:ext cx="3498324" cy="69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 generated content as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educational support—not legal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advice</a:t>
            </a:r>
            <a:endParaRPr lang="en-US" sz="144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544" y="1807294"/>
            <a:ext cx="3348037" cy="623888"/>
          </a:xfrm>
          <a:prstGeom prst="rect">
            <a:avLst/>
          </a:prstGeom>
        </p:spPr>
      </p:pic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544" y="2431479"/>
            <a:ext cx="3348037" cy="623888"/>
          </a:xfrm>
          <a:prstGeom prst="rect">
            <a:avLst/>
          </a:prstGeom>
        </p:spPr>
      </p:pic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5381" y="1807294"/>
            <a:ext cx="3348037" cy="623888"/>
          </a:xfrm>
          <a:prstGeom prst="rect">
            <a:avLst/>
          </a:prstGeom>
        </p:spPr>
      </p:pic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55381" y="2431479"/>
            <a:ext cx="3348037" cy="623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8"/>
          </a:solidFill>
          <a:ln/>
        </p:spPr>
      </p:sp>
      <p:sp>
        <p:nvSpPr>
          <p:cNvPr id="3" name="Shape 1"/>
          <p:cNvSpPr/>
          <p:nvPr/>
        </p:nvSpPr>
        <p:spPr>
          <a:xfrm>
            <a:off x="4936778" y="-1338262"/>
            <a:ext cx="5305425" cy="5305425"/>
          </a:xfrm>
          <a:prstGeom prst="ellipse">
            <a:avLst/>
          </a:prstGeom>
          <a:ln w="14288">
            <a:solidFill>
              <a:srgbClr val="287979">
                <a:alpha val="14902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81091"/>
            <a:ext cx="9144000" cy="461962"/>
          </a:xfrm>
          <a:prstGeom prst="rect">
            <a:avLst/>
          </a:prstGeom>
          <a:solidFill>
            <a:srgbClr val="2A7B7B"/>
          </a:solidFill>
          <a:ln/>
        </p:spPr>
      </p:sp>
      <p:sp>
        <p:nvSpPr>
          <p:cNvPr id="5" name="Text 3"/>
          <p:cNvSpPr/>
          <p:nvPr/>
        </p:nvSpPr>
        <p:spPr>
          <a:xfrm>
            <a:off x="640035" y="4802609"/>
            <a:ext cx="257718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 COMPLIANCE SUITE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322394" y="4802609"/>
            <a:ext cx="29319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DFE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40035" y="379065"/>
            <a:ext cx="183481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0"/>
              </a:spcAft>
              <a:buNone/>
            </a:pPr>
            <a:r>
              <a:rPr lang="en-US" sz="1080" b="1" spc="130" kern="0" dirty="0">
                <a:solidFill>
                  <a:srgbClr val="2A7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TRAINING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40035" y="747564"/>
            <a:ext cx="799568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990" b="1" spc="-105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an Inspection Readiness check</a:t>
            </a:r>
            <a:endParaRPr lang="en-US" sz="2990" dirty="0"/>
          </a:p>
        </p:txBody>
      </p:sp>
      <p:sp>
        <p:nvSpPr>
          <p:cNvPr id="9" name="Shape 7"/>
          <p:cNvSpPr/>
          <p:nvPr/>
        </p:nvSpPr>
        <p:spPr>
          <a:xfrm>
            <a:off x="640519" y="1397719"/>
            <a:ext cx="3748087" cy="1866900"/>
          </a:xfrm>
          <a:prstGeom prst="roundRect">
            <a:avLst>
              <a:gd name="adj" fmla="val 4898"/>
            </a:avLst>
          </a:pr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154305" dist="61722" dir="5400000">
              <a:srgbClr val="0F293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0544" y="1397422"/>
            <a:ext cx="3348037" cy="623888"/>
          </a:xfrm>
          <a:prstGeom prst="rect">
            <a:avLst/>
          </a:prstGeom>
          <a:ln/>
        </p:spPr>
      </p:sp>
      <p:sp>
        <p:nvSpPr>
          <p:cNvPr id="11" name="Shape 9"/>
          <p:cNvSpPr/>
          <p:nvPr/>
        </p:nvSpPr>
        <p:spPr>
          <a:xfrm>
            <a:off x="840284" y="1514103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12" name="Text 10"/>
          <p:cNvSpPr/>
          <p:nvPr/>
        </p:nvSpPr>
        <p:spPr>
          <a:xfrm>
            <a:off x="947217" y="1609427"/>
            <a:ext cx="28051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1362298" y="1473994"/>
            <a:ext cx="3407874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 unit, department, or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contracted service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840544" y="2021607"/>
            <a:ext cx="3348037" cy="623888"/>
          </a:xfrm>
          <a:prstGeom prst="rect">
            <a:avLst/>
          </a:prstGeom>
          <a:ln/>
        </p:spPr>
      </p:sp>
      <p:sp>
        <p:nvSpPr>
          <p:cNvPr id="15" name="Shape 13"/>
          <p:cNvSpPr/>
          <p:nvPr/>
        </p:nvSpPr>
        <p:spPr>
          <a:xfrm>
            <a:off x="840284" y="2138288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16" name="Text 14"/>
          <p:cNvSpPr/>
          <p:nvPr/>
        </p:nvSpPr>
        <p:spPr>
          <a:xfrm>
            <a:off x="931813" y="2233612"/>
            <a:ext cx="3206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362298" y="2098179"/>
            <a:ext cx="3079931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key standards and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citations before generating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840284" y="2762473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19" name="Text 17"/>
          <p:cNvSpPr/>
          <p:nvPr/>
        </p:nvSpPr>
        <p:spPr>
          <a:xfrm>
            <a:off x="930622" y="2857798"/>
            <a:ext cx="32376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1362298" y="2722364"/>
            <a:ext cx="3216622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CMS, TJC, or DNV as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applicable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4755356" y="1397719"/>
            <a:ext cx="3748087" cy="1866900"/>
          </a:xfrm>
          <a:prstGeom prst="roundRect">
            <a:avLst>
              <a:gd name="adj" fmla="val 4898"/>
            </a:avLst>
          </a:pr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154305" dist="61722" dir="5400000">
              <a:srgbClr val="0F293D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55381" y="1397422"/>
            <a:ext cx="3348037" cy="623888"/>
          </a:xfrm>
          <a:prstGeom prst="rect">
            <a:avLst/>
          </a:prstGeom>
          <a:ln/>
        </p:spPr>
      </p:sp>
      <p:sp>
        <p:nvSpPr>
          <p:cNvPr id="23" name="Shape 21"/>
          <p:cNvSpPr/>
          <p:nvPr/>
        </p:nvSpPr>
        <p:spPr>
          <a:xfrm>
            <a:off x="4955084" y="1514103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24" name="Text 22"/>
          <p:cNvSpPr/>
          <p:nvPr/>
        </p:nvSpPr>
        <p:spPr>
          <a:xfrm>
            <a:off x="5042967" y="1609427"/>
            <a:ext cx="33004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5477098" y="1473994"/>
            <a:ext cx="3512738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 each item Ready, Gap, or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N/A</a:t>
            </a:r>
            <a:endParaRPr lang="en-US" sz="1440" dirty="0"/>
          </a:p>
        </p:txBody>
      </p:sp>
      <p:sp>
        <p:nvSpPr>
          <p:cNvPr id="26" name="Shape 24"/>
          <p:cNvSpPr/>
          <p:nvPr/>
        </p:nvSpPr>
        <p:spPr>
          <a:xfrm>
            <a:off x="4955381" y="2021607"/>
            <a:ext cx="3348037" cy="623888"/>
          </a:xfrm>
          <a:prstGeom prst="rect">
            <a:avLst/>
          </a:prstGeom>
          <a:ln/>
        </p:spPr>
      </p:sp>
      <p:sp>
        <p:nvSpPr>
          <p:cNvPr id="27" name="Shape 25"/>
          <p:cNvSpPr/>
          <p:nvPr/>
        </p:nvSpPr>
        <p:spPr>
          <a:xfrm>
            <a:off x="4955084" y="2138288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28" name="Text 26"/>
          <p:cNvSpPr/>
          <p:nvPr/>
        </p:nvSpPr>
        <p:spPr>
          <a:xfrm>
            <a:off x="5047208" y="2233612"/>
            <a:ext cx="3190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5477098" y="2098179"/>
            <a:ext cx="348874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internal notes and Follow-Up</a:t>
            </a: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5776466" y="2335932"/>
            <a:ext cx="60749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</a:t>
            </a:r>
            <a:endParaRPr lang="en-US" sz="1440" dirty="0"/>
          </a:p>
        </p:txBody>
      </p:sp>
      <p:sp>
        <p:nvSpPr>
          <p:cNvPr id="31" name="Shape 29"/>
          <p:cNvSpPr/>
          <p:nvPr/>
        </p:nvSpPr>
        <p:spPr>
          <a:xfrm>
            <a:off x="4955084" y="2762473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32" name="Text 30"/>
          <p:cNvSpPr/>
          <p:nvPr/>
        </p:nvSpPr>
        <p:spPr>
          <a:xfrm>
            <a:off x="5045125" y="2857798"/>
            <a:ext cx="32453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5477098" y="2722364"/>
            <a:ext cx="3712986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the readiness score, sort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risk, and export results</a:t>
            </a:r>
            <a:endParaRPr lang="en-US" sz="144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544" y="1397422"/>
            <a:ext cx="3348037" cy="623888"/>
          </a:xfrm>
          <a:prstGeom prst="rect">
            <a:avLst/>
          </a:prstGeom>
        </p:spPr>
      </p:pic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544" y="2021607"/>
            <a:ext cx="3348037" cy="623888"/>
          </a:xfrm>
          <a:prstGeom prst="rect">
            <a:avLst/>
          </a:prstGeom>
        </p:spPr>
      </p:pic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5381" y="1397422"/>
            <a:ext cx="3348037" cy="623888"/>
          </a:xfrm>
          <a:prstGeom prst="rect">
            <a:avLst/>
          </a:prstGeom>
        </p:spPr>
      </p:pic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55381" y="2021607"/>
            <a:ext cx="3348037" cy="6238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8"/>
          </a:solidFill>
          <a:ln/>
        </p:spPr>
      </p:sp>
      <p:sp>
        <p:nvSpPr>
          <p:cNvPr id="3" name="Shape 1"/>
          <p:cNvSpPr/>
          <p:nvPr/>
        </p:nvSpPr>
        <p:spPr>
          <a:xfrm>
            <a:off x="4936778" y="-1338262"/>
            <a:ext cx="5305425" cy="5305425"/>
          </a:xfrm>
          <a:prstGeom prst="ellipse">
            <a:avLst/>
          </a:prstGeom>
          <a:ln w="14288">
            <a:solidFill>
              <a:srgbClr val="287979">
                <a:alpha val="14902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81091"/>
            <a:ext cx="9144000" cy="461962"/>
          </a:xfrm>
          <a:prstGeom prst="rect">
            <a:avLst/>
          </a:prstGeom>
          <a:solidFill>
            <a:srgbClr val="2A7B7B"/>
          </a:solidFill>
          <a:ln/>
        </p:spPr>
      </p:sp>
      <p:sp>
        <p:nvSpPr>
          <p:cNvPr id="5" name="Text 3"/>
          <p:cNvSpPr/>
          <p:nvPr/>
        </p:nvSpPr>
        <p:spPr>
          <a:xfrm>
            <a:off x="640035" y="4802609"/>
            <a:ext cx="257718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 COMPLIANCE SUITE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334375" y="4802609"/>
            <a:ext cx="27761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DFE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40035" y="379065"/>
            <a:ext cx="183481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0"/>
              </a:spcAft>
              <a:buNone/>
            </a:pPr>
            <a:r>
              <a:rPr lang="en-US" sz="1080" b="1" spc="130" kern="0" dirty="0">
                <a:solidFill>
                  <a:srgbClr val="2A7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TRAINING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40035" y="747564"/>
            <a:ext cx="497600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990" b="1" spc="-105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 a policy for gaps</a:t>
            </a:r>
            <a:endParaRPr lang="en-US" sz="2990" dirty="0"/>
          </a:p>
        </p:txBody>
      </p:sp>
      <p:sp>
        <p:nvSpPr>
          <p:cNvPr id="9" name="Shape 7"/>
          <p:cNvSpPr/>
          <p:nvPr/>
        </p:nvSpPr>
        <p:spPr>
          <a:xfrm>
            <a:off x="640519" y="1396901"/>
            <a:ext cx="3748087" cy="2047875"/>
          </a:xfrm>
          <a:prstGeom prst="roundRect">
            <a:avLst>
              <a:gd name="adj" fmla="val 4465"/>
            </a:avLst>
          </a:pr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154305" dist="61722" dir="5400000">
              <a:srgbClr val="0F293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0544" y="1397422"/>
            <a:ext cx="3348037" cy="623888"/>
          </a:xfrm>
          <a:prstGeom prst="rect">
            <a:avLst/>
          </a:prstGeom>
          <a:ln/>
        </p:spPr>
      </p:sp>
      <p:sp>
        <p:nvSpPr>
          <p:cNvPr id="11" name="Shape 9"/>
          <p:cNvSpPr/>
          <p:nvPr/>
        </p:nvSpPr>
        <p:spPr>
          <a:xfrm>
            <a:off x="840284" y="1514103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12" name="Text 10"/>
          <p:cNvSpPr/>
          <p:nvPr/>
        </p:nvSpPr>
        <p:spPr>
          <a:xfrm>
            <a:off x="947217" y="1609427"/>
            <a:ext cx="28051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1362298" y="1473994"/>
            <a:ext cx="3490682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a topic and paste policy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or upload a supported file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840544" y="2020974"/>
            <a:ext cx="3348037" cy="566738"/>
          </a:xfrm>
          <a:prstGeom prst="rect">
            <a:avLst/>
          </a:prstGeom>
          <a:ln/>
        </p:spPr>
      </p:sp>
      <p:sp>
        <p:nvSpPr>
          <p:cNvPr id="15" name="Shape 13"/>
          <p:cNvSpPr/>
          <p:nvPr/>
        </p:nvSpPr>
        <p:spPr>
          <a:xfrm>
            <a:off x="840284" y="2109043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16" name="Text 14"/>
          <p:cNvSpPr/>
          <p:nvPr/>
        </p:nvSpPr>
        <p:spPr>
          <a:xfrm>
            <a:off x="931813" y="2204368"/>
            <a:ext cx="3206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362298" y="2187848"/>
            <a:ext cx="317763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the Policy Gap Scanner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840284" y="2704058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19" name="Text 17"/>
          <p:cNvSpPr/>
          <p:nvPr/>
        </p:nvSpPr>
        <p:spPr>
          <a:xfrm>
            <a:off x="930622" y="2799383"/>
            <a:ext cx="32376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1362298" y="2663949"/>
            <a:ext cx="3609283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Met, Weak, and Missing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findings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4755356" y="1396901"/>
            <a:ext cx="3748087" cy="2047875"/>
          </a:xfrm>
          <a:prstGeom prst="roundRect">
            <a:avLst>
              <a:gd name="adj" fmla="val 4465"/>
            </a:avLst>
          </a:pr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154305" dist="61722" dir="5400000">
              <a:srgbClr val="0F293D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55381" y="1397422"/>
            <a:ext cx="3348037" cy="623888"/>
          </a:xfrm>
          <a:prstGeom prst="rect">
            <a:avLst/>
          </a:prstGeom>
          <a:ln/>
        </p:spPr>
      </p:sp>
      <p:sp>
        <p:nvSpPr>
          <p:cNvPr id="23" name="Shape 21"/>
          <p:cNvSpPr/>
          <p:nvPr/>
        </p:nvSpPr>
        <p:spPr>
          <a:xfrm>
            <a:off x="4955084" y="1514103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24" name="Text 22"/>
          <p:cNvSpPr/>
          <p:nvPr/>
        </p:nvSpPr>
        <p:spPr>
          <a:xfrm>
            <a:off x="5042967" y="1609427"/>
            <a:ext cx="33004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5477098" y="1473994"/>
            <a:ext cx="3144649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source policy text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beside the assessment</a:t>
            </a:r>
            <a:endParaRPr lang="en-US" sz="1440" dirty="0"/>
          </a:p>
        </p:txBody>
      </p:sp>
      <p:sp>
        <p:nvSpPr>
          <p:cNvPr id="26" name="Shape 24"/>
          <p:cNvSpPr/>
          <p:nvPr/>
        </p:nvSpPr>
        <p:spPr>
          <a:xfrm>
            <a:off x="4955381" y="2020974"/>
            <a:ext cx="3348037" cy="566738"/>
          </a:xfrm>
          <a:prstGeom prst="rect">
            <a:avLst/>
          </a:prstGeom>
          <a:ln/>
        </p:spPr>
      </p:sp>
      <p:sp>
        <p:nvSpPr>
          <p:cNvPr id="27" name="Shape 25"/>
          <p:cNvSpPr/>
          <p:nvPr/>
        </p:nvSpPr>
        <p:spPr>
          <a:xfrm>
            <a:off x="4955084" y="2109043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28" name="Text 26"/>
          <p:cNvSpPr/>
          <p:nvPr/>
        </p:nvSpPr>
        <p:spPr>
          <a:xfrm>
            <a:off x="5047208" y="2204368"/>
            <a:ext cx="3190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5477098" y="2187848"/>
            <a:ext cx="285501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 or export the result</a:t>
            </a:r>
            <a:endParaRPr lang="en-US" sz="1440" dirty="0"/>
          </a:p>
        </p:txBody>
      </p:sp>
      <p:sp>
        <p:nvSpPr>
          <p:cNvPr id="30" name="Shape 28"/>
          <p:cNvSpPr/>
          <p:nvPr/>
        </p:nvSpPr>
        <p:spPr>
          <a:xfrm>
            <a:off x="4955084" y="2822897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31" name="Text 29"/>
          <p:cNvSpPr/>
          <p:nvPr/>
        </p:nvSpPr>
        <p:spPr>
          <a:xfrm>
            <a:off x="5045125" y="2918222"/>
            <a:ext cx="32453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5477098" y="2663949"/>
            <a:ext cx="3362020" cy="69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a prioritized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remediation action plan when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gaps exist</a:t>
            </a:r>
            <a:endParaRPr lang="en-US" sz="144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544" y="1397422"/>
            <a:ext cx="3348037" cy="623888"/>
          </a:xfrm>
          <a:prstGeom prst="rect">
            <a:avLst/>
          </a:prstGeom>
        </p:spPr>
      </p:pic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544" y="2020974"/>
            <a:ext cx="3348037" cy="566738"/>
          </a:xfrm>
          <a:prstGeom prst="rect">
            <a:avLst/>
          </a:prstGeom>
        </p:spPr>
      </p:pic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5381" y="1397422"/>
            <a:ext cx="3348037" cy="623888"/>
          </a:xfrm>
          <a:prstGeom prst="rect">
            <a:avLst/>
          </a:prstGeom>
        </p:spPr>
      </p:pic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55381" y="2020974"/>
            <a:ext cx="3348037" cy="5667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8"/>
          </a:solidFill>
          <a:ln/>
        </p:spPr>
      </p:sp>
      <p:sp>
        <p:nvSpPr>
          <p:cNvPr id="3" name="Shape 1"/>
          <p:cNvSpPr/>
          <p:nvPr/>
        </p:nvSpPr>
        <p:spPr>
          <a:xfrm>
            <a:off x="4936778" y="-1338262"/>
            <a:ext cx="5305425" cy="5305425"/>
          </a:xfrm>
          <a:prstGeom prst="ellipse">
            <a:avLst/>
          </a:prstGeom>
          <a:ln w="14288">
            <a:solidFill>
              <a:srgbClr val="287979">
                <a:alpha val="14902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81091"/>
            <a:ext cx="9144000" cy="461962"/>
          </a:xfrm>
          <a:prstGeom prst="rect">
            <a:avLst/>
          </a:prstGeom>
          <a:solidFill>
            <a:srgbClr val="2A7B7B"/>
          </a:solidFill>
          <a:ln/>
        </p:spPr>
      </p:sp>
      <p:sp>
        <p:nvSpPr>
          <p:cNvPr id="5" name="Text 3"/>
          <p:cNvSpPr/>
          <p:nvPr/>
        </p:nvSpPr>
        <p:spPr>
          <a:xfrm>
            <a:off x="640035" y="4802609"/>
            <a:ext cx="257718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 COMPLIANCE SUITE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322171" y="4802609"/>
            <a:ext cx="29348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DFE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40035" y="379065"/>
            <a:ext cx="183481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0"/>
              </a:spcAft>
              <a:buNone/>
            </a:pPr>
            <a:r>
              <a:rPr lang="en-US" sz="1080" b="1" spc="130" kern="0" dirty="0">
                <a:solidFill>
                  <a:srgbClr val="2A7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TRAINING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40035" y="747564"/>
            <a:ext cx="938475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990" b="1" spc="-105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privacy and session behavior</a:t>
            </a:r>
            <a:endParaRPr lang="en-US" sz="2990" dirty="0"/>
          </a:p>
        </p:txBody>
      </p:sp>
      <p:sp>
        <p:nvSpPr>
          <p:cNvPr id="9" name="Shape 7"/>
          <p:cNvSpPr/>
          <p:nvPr/>
        </p:nvSpPr>
        <p:spPr>
          <a:xfrm>
            <a:off x="640519" y="1397533"/>
            <a:ext cx="3748087" cy="2105025"/>
          </a:xfrm>
          <a:prstGeom prst="roundRect">
            <a:avLst>
              <a:gd name="adj" fmla="val 4344"/>
            </a:avLst>
          </a:pr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154305" dist="61722" dir="5400000">
              <a:srgbClr val="0F293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0544" y="1397236"/>
            <a:ext cx="3348037" cy="862012"/>
          </a:xfrm>
          <a:prstGeom prst="rect">
            <a:avLst/>
          </a:prstGeom>
          <a:ln/>
        </p:spPr>
      </p:sp>
      <p:sp>
        <p:nvSpPr>
          <p:cNvPr id="11" name="Shape 9"/>
          <p:cNvSpPr/>
          <p:nvPr/>
        </p:nvSpPr>
        <p:spPr>
          <a:xfrm>
            <a:off x="840284" y="1632942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12" name="Text 10"/>
          <p:cNvSpPr/>
          <p:nvPr/>
        </p:nvSpPr>
        <p:spPr>
          <a:xfrm>
            <a:off x="947217" y="1728267"/>
            <a:ext cx="28051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1362298" y="1473994"/>
            <a:ext cx="3213140" cy="69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text and gap-analysis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stay in temporary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 session storage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840544" y="2259360"/>
            <a:ext cx="3348037" cy="623888"/>
          </a:xfrm>
          <a:prstGeom prst="rect">
            <a:avLst/>
          </a:prstGeom>
          <a:ln/>
        </p:spPr>
      </p:sp>
      <p:sp>
        <p:nvSpPr>
          <p:cNvPr id="15" name="Shape 13"/>
          <p:cNvSpPr/>
          <p:nvPr/>
        </p:nvSpPr>
        <p:spPr>
          <a:xfrm>
            <a:off x="840284" y="2376041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16" name="Text 14"/>
          <p:cNvSpPr/>
          <p:nvPr/>
        </p:nvSpPr>
        <p:spPr>
          <a:xfrm>
            <a:off x="931813" y="2471365"/>
            <a:ext cx="3206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362298" y="2335932"/>
            <a:ext cx="3462918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results expire after 30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minutes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840284" y="3000226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19" name="Text 17"/>
          <p:cNvSpPr/>
          <p:nvPr/>
        </p:nvSpPr>
        <p:spPr>
          <a:xfrm>
            <a:off x="930622" y="3095551"/>
            <a:ext cx="32376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1362298" y="2960117"/>
            <a:ext cx="3586356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Sensitive session data is bound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the signed-in user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4755356" y="1397533"/>
            <a:ext cx="3748087" cy="2105025"/>
          </a:xfrm>
          <a:prstGeom prst="roundRect">
            <a:avLst>
              <a:gd name="adj" fmla="val 4344"/>
            </a:avLst>
          </a:pr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154305" dist="61722" dir="5400000">
              <a:srgbClr val="0F293D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55381" y="1397236"/>
            <a:ext cx="3348037" cy="862012"/>
          </a:xfrm>
          <a:prstGeom prst="rect">
            <a:avLst/>
          </a:prstGeom>
          <a:ln/>
        </p:spPr>
      </p:sp>
      <p:sp>
        <p:nvSpPr>
          <p:cNvPr id="23" name="Shape 21"/>
          <p:cNvSpPr/>
          <p:nvPr/>
        </p:nvSpPr>
        <p:spPr>
          <a:xfrm>
            <a:off x="4955084" y="1632942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24" name="Text 22"/>
          <p:cNvSpPr/>
          <p:nvPr/>
        </p:nvSpPr>
        <p:spPr>
          <a:xfrm>
            <a:off x="5042967" y="1728267"/>
            <a:ext cx="33004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5477098" y="1473994"/>
            <a:ext cx="3619247" cy="69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Sign-out, account change,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inactivity, or Clear Session Data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removes temporary content</a:t>
            </a:r>
            <a:endParaRPr lang="en-US" sz="1440" dirty="0"/>
          </a:p>
        </p:txBody>
      </p:sp>
      <p:sp>
        <p:nvSpPr>
          <p:cNvPr id="26" name="Shape 24"/>
          <p:cNvSpPr/>
          <p:nvPr/>
        </p:nvSpPr>
        <p:spPr>
          <a:xfrm>
            <a:off x="4955084" y="2494880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27" name="Text 25"/>
          <p:cNvSpPr/>
          <p:nvPr/>
        </p:nvSpPr>
        <p:spPr>
          <a:xfrm>
            <a:off x="5047208" y="2590205"/>
            <a:ext cx="3190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5477098" y="2335932"/>
            <a:ext cx="3676323" cy="69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Temporary history is not a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permanent document repository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cross-device archive</a:t>
            </a:r>
            <a:endParaRPr lang="en-US" sz="144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544" y="1397236"/>
            <a:ext cx="3348037" cy="862012"/>
          </a:xfrm>
          <a:prstGeom prst="rect">
            <a:avLst/>
          </a:prstGeom>
        </p:spPr>
      </p:pic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544" y="2259360"/>
            <a:ext cx="3348037" cy="623888"/>
          </a:xfrm>
          <a:prstGeom prst="rect">
            <a:avLst/>
          </a:prstGeom>
        </p:spPr>
      </p:pic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5381" y="1397236"/>
            <a:ext cx="3348037" cy="8620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8"/>
          </a:solidFill>
          <a:ln/>
        </p:spPr>
      </p:sp>
      <p:sp>
        <p:nvSpPr>
          <p:cNvPr id="3" name="Shape 1"/>
          <p:cNvSpPr/>
          <p:nvPr/>
        </p:nvSpPr>
        <p:spPr>
          <a:xfrm>
            <a:off x="4936778" y="-1338262"/>
            <a:ext cx="5305425" cy="5305425"/>
          </a:xfrm>
          <a:prstGeom prst="ellipse">
            <a:avLst/>
          </a:prstGeom>
          <a:ln w="14288">
            <a:solidFill>
              <a:srgbClr val="287979">
                <a:alpha val="14902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81091"/>
            <a:ext cx="9144000" cy="461962"/>
          </a:xfrm>
          <a:prstGeom prst="rect">
            <a:avLst/>
          </a:prstGeom>
          <a:solidFill>
            <a:srgbClr val="2A7B7B"/>
          </a:solidFill>
          <a:ln/>
        </p:spPr>
      </p:sp>
      <p:sp>
        <p:nvSpPr>
          <p:cNvPr id="5" name="Text 3"/>
          <p:cNvSpPr/>
          <p:nvPr/>
        </p:nvSpPr>
        <p:spPr>
          <a:xfrm>
            <a:off x="640035" y="4802609"/>
            <a:ext cx="257718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 COMPLIANCE SUITE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322394" y="4802609"/>
            <a:ext cx="29319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DFE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40035" y="379065"/>
            <a:ext cx="183481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0"/>
              </a:spcAft>
              <a:buNone/>
            </a:pPr>
            <a:r>
              <a:rPr lang="en-US" sz="1080" b="1" spc="130" kern="0" dirty="0">
                <a:solidFill>
                  <a:srgbClr val="2A7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TRAINING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40035" y="747564"/>
            <a:ext cx="790069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990" b="1" spc="-105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what Billing and Admin show</a:t>
            </a:r>
            <a:endParaRPr lang="en-US" sz="2990" dirty="0"/>
          </a:p>
        </p:txBody>
      </p:sp>
      <p:sp>
        <p:nvSpPr>
          <p:cNvPr id="9" name="Shape 7"/>
          <p:cNvSpPr/>
          <p:nvPr/>
        </p:nvSpPr>
        <p:spPr>
          <a:xfrm>
            <a:off x="640519" y="1397161"/>
            <a:ext cx="3748087" cy="2581275"/>
          </a:xfrm>
          <a:prstGeom prst="roundRect">
            <a:avLst>
              <a:gd name="adj" fmla="val 3542"/>
            </a:avLst>
          </a:pr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154305" dist="61722" dir="5400000">
              <a:srgbClr val="0F293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0544" y="1397236"/>
            <a:ext cx="3348037" cy="862012"/>
          </a:xfrm>
          <a:prstGeom prst="rect">
            <a:avLst/>
          </a:prstGeom>
          <a:ln/>
        </p:spPr>
      </p:sp>
      <p:sp>
        <p:nvSpPr>
          <p:cNvPr id="11" name="Shape 9"/>
          <p:cNvSpPr/>
          <p:nvPr/>
        </p:nvSpPr>
        <p:spPr>
          <a:xfrm>
            <a:off x="840284" y="1632942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12" name="Text 10"/>
          <p:cNvSpPr/>
          <p:nvPr/>
        </p:nvSpPr>
        <p:spPr>
          <a:xfrm>
            <a:off x="947217" y="1728267"/>
            <a:ext cx="28051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1362298" y="1473994"/>
            <a:ext cx="3661522" cy="69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Billing displays trial or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status and AI token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usage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840544" y="2259174"/>
            <a:ext cx="3348037" cy="862012"/>
          </a:xfrm>
          <a:prstGeom prst="rect">
            <a:avLst/>
          </a:prstGeom>
          <a:ln/>
        </p:spPr>
      </p:sp>
      <p:sp>
        <p:nvSpPr>
          <p:cNvPr id="15" name="Shape 13"/>
          <p:cNvSpPr/>
          <p:nvPr/>
        </p:nvSpPr>
        <p:spPr>
          <a:xfrm>
            <a:off x="840284" y="2494880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16" name="Text 14"/>
          <p:cNvSpPr/>
          <p:nvPr/>
        </p:nvSpPr>
        <p:spPr>
          <a:xfrm>
            <a:off x="931813" y="2590205"/>
            <a:ext cx="3206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362298" y="2335932"/>
            <a:ext cx="3242258" cy="69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Facility plan is $299 per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for one CCN and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unlimited staff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840284" y="3356818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19" name="Text 17"/>
          <p:cNvSpPr/>
          <p:nvPr/>
        </p:nvSpPr>
        <p:spPr>
          <a:xfrm>
            <a:off x="930622" y="3452143"/>
            <a:ext cx="32376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1362298" y="3197870"/>
            <a:ext cx="3421707" cy="69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Checkout remains unavailable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until payment processing is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4755356" y="1397161"/>
            <a:ext cx="3748087" cy="2581275"/>
          </a:xfrm>
          <a:prstGeom prst="roundRect">
            <a:avLst>
              <a:gd name="adj" fmla="val 3542"/>
            </a:avLst>
          </a:pr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154305" dist="61722" dir="5400000">
              <a:srgbClr val="0F293D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55381" y="1397236"/>
            <a:ext cx="3348037" cy="862012"/>
          </a:xfrm>
          <a:prstGeom prst="rect">
            <a:avLst/>
          </a:prstGeom>
          <a:ln/>
        </p:spPr>
      </p:sp>
      <p:sp>
        <p:nvSpPr>
          <p:cNvPr id="23" name="Shape 21"/>
          <p:cNvSpPr/>
          <p:nvPr/>
        </p:nvSpPr>
        <p:spPr>
          <a:xfrm>
            <a:off x="4955084" y="1632942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24" name="Text 22"/>
          <p:cNvSpPr/>
          <p:nvPr/>
        </p:nvSpPr>
        <p:spPr>
          <a:xfrm>
            <a:off x="5042967" y="1728267"/>
            <a:ext cx="33004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5477098" y="1473994"/>
            <a:ext cx="3160417" cy="69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tools appear only for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authorized platform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administrators</a:t>
            </a:r>
            <a:endParaRPr lang="en-US" sz="1440" dirty="0"/>
          </a:p>
        </p:txBody>
      </p:sp>
      <p:sp>
        <p:nvSpPr>
          <p:cNvPr id="26" name="Shape 24"/>
          <p:cNvSpPr/>
          <p:nvPr/>
        </p:nvSpPr>
        <p:spPr>
          <a:xfrm>
            <a:off x="4955084" y="2494880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27" name="Text 25"/>
          <p:cNvSpPr/>
          <p:nvPr/>
        </p:nvSpPr>
        <p:spPr>
          <a:xfrm>
            <a:off x="5047208" y="2590205"/>
            <a:ext cx="3190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5477098" y="2335932"/>
            <a:ext cx="3358150" cy="69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staff should use the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compliance workspaces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Billing</a:t>
            </a:r>
            <a:endParaRPr lang="en-US" sz="144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544" y="1397236"/>
            <a:ext cx="3348037" cy="862012"/>
          </a:xfrm>
          <a:prstGeom prst="rect">
            <a:avLst/>
          </a:prstGeom>
        </p:spPr>
      </p:pic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544" y="2259174"/>
            <a:ext cx="3348037" cy="862012"/>
          </a:xfrm>
          <a:prstGeom prst="rect">
            <a:avLst/>
          </a:prstGeom>
        </p:spPr>
      </p:pic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5381" y="1397236"/>
            <a:ext cx="3348037" cy="8620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8"/>
          </a:solidFill>
          <a:ln/>
        </p:spPr>
      </p:sp>
      <p:sp>
        <p:nvSpPr>
          <p:cNvPr id="3" name="Shape 1"/>
          <p:cNvSpPr/>
          <p:nvPr/>
        </p:nvSpPr>
        <p:spPr>
          <a:xfrm>
            <a:off x="4936778" y="-1338262"/>
            <a:ext cx="5305425" cy="5305425"/>
          </a:xfrm>
          <a:prstGeom prst="ellipse">
            <a:avLst/>
          </a:prstGeom>
          <a:ln w="14288">
            <a:solidFill>
              <a:srgbClr val="287979">
                <a:alpha val="14902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81091"/>
            <a:ext cx="9144000" cy="461962"/>
          </a:xfrm>
          <a:prstGeom prst="rect">
            <a:avLst/>
          </a:prstGeom>
          <a:solidFill>
            <a:srgbClr val="2A7B7B"/>
          </a:solidFill>
          <a:ln/>
        </p:spPr>
      </p:sp>
      <p:sp>
        <p:nvSpPr>
          <p:cNvPr id="5" name="Text 3"/>
          <p:cNvSpPr/>
          <p:nvPr/>
        </p:nvSpPr>
        <p:spPr>
          <a:xfrm>
            <a:off x="640035" y="4802609"/>
            <a:ext cx="257718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 COMPLIANCE SUITE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352309" y="4802609"/>
            <a:ext cx="25430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DFE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40035" y="379065"/>
            <a:ext cx="183481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0"/>
              </a:spcAft>
              <a:buNone/>
            </a:pPr>
            <a:r>
              <a:rPr lang="en-US" sz="1080" b="1" spc="130" kern="0" dirty="0">
                <a:solidFill>
                  <a:srgbClr val="2A7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TRAINING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40035" y="747564"/>
            <a:ext cx="694675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990" b="1" spc="-105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team workflow</a:t>
            </a:r>
            <a:endParaRPr lang="en-US" sz="2990" dirty="0"/>
          </a:p>
        </p:txBody>
      </p:sp>
      <p:sp>
        <p:nvSpPr>
          <p:cNvPr id="9" name="Shape 7"/>
          <p:cNvSpPr/>
          <p:nvPr/>
        </p:nvSpPr>
        <p:spPr>
          <a:xfrm>
            <a:off x="640519" y="1397719"/>
            <a:ext cx="3748087" cy="1866900"/>
          </a:xfrm>
          <a:prstGeom prst="roundRect">
            <a:avLst>
              <a:gd name="adj" fmla="val 4898"/>
            </a:avLst>
          </a:pr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154305" dist="61722" dir="5400000">
              <a:srgbClr val="0F293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0544" y="1397422"/>
            <a:ext cx="3348037" cy="623888"/>
          </a:xfrm>
          <a:prstGeom prst="rect">
            <a:avLst/>
          </a:prstGeom>
          <a:ln/>
        </p:spPr>
      </p:sp>
      <p:sp>
        <p:nvSpPr>
          <p:cNvPr id="11" name="Shape 9"/>
          <p:cNvSpPr/>
          <p:nvPr/>
        </p:nvSpPr>
        <p:spPr>
          <a:xfrm>
            <a:off x="840284" y="1514103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12" name="Text 10"/>
          <p:cNvSpPr/>
          <p:nvPr/>
        </p:nvSpPr>
        <p:spPr>
          <a:xfrm>
            <a:off x="947217" y="1609427"/>
            <a:ext cx="28051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1362298" y="1473994"/>
            <a:ext cx="3246418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Confirm provider type and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topic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840544" y="2021607"/>
            <a:ext cx="3348037" cy="623888"/>
          </a:xfrm>
          <a:prstGeom prst="rect">
            <a:avLst/>
          </a:prstGeom>
          <a:ln/>
        </p:spPr>
      </p:sp>
      <p:sp>
        <p:nvSpPr>
          <p:cNvPr id="15" name="Shape 13"/>
          <p:cNvSpPr/>
          <p:nvPr/>
        </p:nvSpPr>
        <p:spPr>
          <a:xfrm>
            <a:off x="840284" y="2138288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16" name="Text 14"/>
          <p:cNvSpPr/>
          <p:nvPr/>
        </p:nvSpPr>
        <p:spPr>
          <a:xfrm>
            <a:off x="931813" y="2233612"/>
            <a:ext cx="3206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362298" y="2098179"/>
            <a:ext cx="3576682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Open official citations before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relying on generated output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840284" y="2735610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19" name="Text 17"/>
          <p:cNvSpPr/>
          <p:nvPr/>
        </p:nvSpPr>
        <p:spPr>
          <a:xfrm>
            <a:off x="930622" y="2830934"/>
            <a:ext cx="32376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1362298" y="2814414"/>
            <a:ext cx="314967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Draft or review the policy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4755356" y="1397719"/>
            <a:ext cx="3748087" cy="1866900"/>
          </a:xfrm>
          <a:prstGeom prst="roundRect">
            <a:avLst>
              <a:gd name="adj" fmla="val 4898"/>
            </a:avLst>
          </a:pr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154305" dist="61722" dir="5400000">
              <a:srgbClr val="0F293D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55381" y="1397422"/>
            <a:ext cx="3348037" cy="623888"/>
          </a:xfrm>
          <a:prstGeom prst="rect">
            <a:avLst/>
          </a:prstGeom>
          <a:ln/>
        </p:spPr>
      </p:sp>
      <p:sp>
        <p:nvSpPr>
          <p:cNvPr id="23" name="Shape 21"/>
          <p:cNvSpPr/>
          <p:nvPr/>
        </p:nvSpPr>
        <p:spPr>
          <a:xfrm>
            <a:off x="4955084" y="1514103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24" name="Text 22"/>
          <p:cNvSpPr/>
          <p:nvPr/>
        </p:nvSpPr>
        <p:spPr>
          <a:xfrm>
            <a:off x="5042967" y="1609427"/>
            <a:ext cx="33004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5477098" y="1473994"/>
            <a:ext cx="3646527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Run inspection readiness and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analysis</a:t>
            </a:r>
            <a:endParaRPr lang="en-US" sz="1440" dirty="0"/>
          </a:p>
        </p:txBody>
      </p:sp>
      <p:sp>
        <p:nvSpPr>
          <p:cNvPr id="26" name="Shape 24"/>
          <p:cNvSpPr/>
          <p:nvPr/>
        </p:nvSpPr>
        <p:spPr>
          <a:xfrm>
            <a:off x="4955381" y="2021607"/>
            <a:ext cx="3348037" cy="623888"/>
          </a:xfrm>
          <a:prstGeom prst="rect">
            <a:avLst/>
          </a:prstGeom>
          <a:ln/>
        </p:spPr>
      </p:sp>
      <p:sp>
        <p:nvSpPr>
          <p:cNvPr id="27" name="Shape 25"/>
          <p:cNvSpPr/>
          <p:nvPr/>
        </p:nvSpPr>
        <p:spPr>
          <a:xfrm>
            <a:off x="4955084" y="2138288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28" name="Text 26"/>
          <p:cNvSpPr/>
          <p:nvPr/>
        </p:nvSpPr>
        <p:spPr>
          <a:xfrm>
            <a:off x="5047208" y="2233612"/>
            <a:ext cx="3190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5477098" y="2098179"/>
            <a:ext cx="3535665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Assign follow-up outside the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using exported results</a:t>
            </a:r>
            <a:endParaRPr lang="en-US" sz="1440" dirty="0"/>
          </a:p>
        </p:txBody>
      </p:sp>
      <p:sp>
        <p:nvSpPr>
          <p:cNvPr id="30" name="Shape 28"/>
          <p:cNvSpPr/>
          <p:nvPr/>
        </p:nvSpPr>
        <p:spPr>
          <a:xfrm>
            <a:off x="4955084" y="2762473"/>
            <a:ext cx="385763" cy="385763"/>
          </a:xfrm>
          <a:prstGeom prst="roundRect">
            <a:avLst>
              <a:gd name="adj" fmla="val 16593"/>
            </a:avLst>
          </a:prstGeom>
          <a:solidFill>
            <a:srgbClr val="2A7B7B"/>
          </a:solidFill>
          <a:ln/>
        </p:spPr>
      </p:sp>
      <p:sp>
        <p:nvSpPr>
          <p:cNvPr id="31" name="Text 29"/>
          <p:cNvSpPr/>
          <p:nvPr/>
        </p:nvSpPr>
        <p:spPr>
          <a:xfrm>
            <a:off x="5045125" y="2857798"/>
            <a:ext cx="32453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5477098" y="2722364"/>
            <a:ext cx="3464659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Clear sensitive session data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review is complete</a:t>
            </a:r>
            <a:endParaRPr lang="en-US" sz="1440" dirty="0"/>
          </a:p>
        </p:txBody>
      </p:sp>
      <p:sp>
        <p:nvSpPr>
          <p:cNvPr id="33" name="Text 31"/>
          <p:cNvSpPr/>
          <p:nvPr/>
        </p:nvSpPr>
        <p:spPr>
          <a:xfrm>
            <a:off x="815280" y="3907334"/>
            <a:ext cx="85374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A7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Consultant reminder: validate final decisions with current CMS guidance and qualified counsel</a:t>
            </a:r>
            <a:endParaRPr lang="en-US" sz="112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544" y="1397422"/>
            <a:ext cx="3348037" cy="623888"/>
          </a:xfrm>
          <a:prstGeom prst="rect">
            <a:avLst/>
          </a:prstGeom>
        </p:spPr>
      </p:pic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544" y="2021607"/>
            <a:ext cx="3348037" cy="623888"/>
          </a:xfrm>
          <a:prstGeom prst="rect">
            <a:avLst/>
          </a:prstGeom>
        </p:spPr>
      </p:pic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5381" y="1397422"/>
            <a:ext cx="3348037" cy="623888"/>
          </a:xfrm>
          <a:prstGeom prst="rect">
            <a:avLst/>
          </a:prstGeom>
        </p:spPr>
      </p:pic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55381" y="2021607"/>
            <a:ext cx="3348037" cy="623888"/>
          </a:xfrm>
          <a:prstGeom prst="rect">
            <a:avLst/>
          </a:prstGeom>
        </p:spPr>
      </p:pic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0556" y="3898218"/>
            <a:ext cx="7862887" cy="19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2026-09-06T21:04:31Z</dcterms:created>
  <dcterms:modified xsi:type="dcterms:W3CDTF">2026-09-06T21:04:31Z</dcterms:modified>
</cp:coreProperties>
</file>